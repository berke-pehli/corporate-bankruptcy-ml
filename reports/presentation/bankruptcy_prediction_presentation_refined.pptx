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7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20"/>
    <p:sldId id="270" r:id="rId21"/>
    <p:sldId id="271" r:id="rId22"/>
    <p:sldId id="272" r:id="rId23"/>
    <p:sldId id="273" r:id="rId24"/>
  </p:sldIdLst>
  <p:sldSz cx="12191999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9BA5D-222A-46E0-8F3D-3380F591A716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3CC69-961E-40A7-B8F7-78879096E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5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20–30 seconds.</a:t>
            </a:r>
          </a:p>
          <a:p>
            <a:r>
              <a:t>Open with the topic and the central idea: the project is not about accuracy only; it is about detecting failures while controlling false alarms.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45–60 seconds.</a:t>
            </a:r>
          </a:p>
          <a:p>
            <a:r>
              <a:t>• Bankruptcy screening matters for lenders, investors, auditors, and stakeholders.</a:t>
            </a:r>
          </a:p>
          <a:p>
            <a:r>
              <a:t>• Failed observations are rare, so accuracy can be misleading.</a:t>
            </a:r>
          </a:p>
          <a:p>
            <a:r>
              <a:t>• The research question is about the trade-off between detecting failures and creating false alarms.</a:t>
            </a:r>
          </a:p>
          <a:p>
            <a:r>
              <a:t>• Main story: no universal winning model.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 seconds.</a:t>
            </a:r>
          </a:p>
          <a:p>
            <a:r>
              <a:t>• Unit of observation: company-year.</a:t>
            </a:r>
          </a:p>
          <a:p>
            <a:r>
              <a:t>• 78,682 observations, 8,971 companies, 1999–2018.</a:t>
            </a:r>
          </a:p>
          <a:p>
            <a:r>
              <a:t>• Failed class is only 6.63%.</a:t>
            </a:r>
          </a:p>
          <a:p>
            <a:r>
              <a:t>• A majority-only model can look good in accuracy but detect no failures.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60–75 seconds.</a:t>
            </a:r>
          </a:p>
          <a:p>
            <a:r>
              <a:t>• Same company appears in several years.</a:t>
            </a:r>
          </a:p>
          <a:p>
            <a:r>
              <a:t>• Row-level splitting could leak company-specific information.</a:t>
            </a:r>
          </a:p>
          <a:p>
            <a:r>
              <a:t>• Split complete companies: training/final test, then inner training/validation.</a:t>
            </a:r>
          </a:p>
          <a:p>
            <a:r>
              <a:t>• Validation is used for model selection and threshold analysis.</a:t>
            </a:r>
          </a:p>
          <a:p>
            <a:r>
              <a:t>• Final test remains untouched.</a:t>
            </a:r>
          </a:p>
          <a:p>
            <a:r>
              <a:t>• This is unseen-company generalization, not chronological forecasting.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50–60 seconds.</a:t>
            </a:r>
          </a:p>
          <a:p>
            <a:r>
              <a:t>• Majority baseline shows why accuracy is misleading.</a:t>
            </a:r>
          </a:p>
          <a:p>
            <a:r>
              <a:t>• Logistic Regression is the interpretable benchmark.</a:t>
            </a:r>
          </a:p>
          <a:p>
            <a:r>
              <a:t>• Regularized LR, Decision Tree, Random Forest, and Gradient Boosting extend the comparison.</a:t>
            </a:r>
          </a:p>
          <a:p>
            <a:r>
              <a:t>• PCA + LR is a validation-only extension.</a:t>
            </a:r>
          </a:p>
          <a:p>
            <a:r>
              <a:t>• Key point: model choice depends on the objective.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seconds.</a:t>
            </a:r>
          </a:p>
          <a:p>
            <a:r>
              <a:t>• Accuracy is not enough because failures are rare.</a:t>
            </a:r>
          </a:p>
          <a:p>
            <a:r>
              <a:t>• Recall: how many failures are detected.</a:t>
            </a:r>
          </a:p>
          <a:p>
            <a:r>
              <a:t>• Precision: how many alerts are correct.</a:t>
            </a:r>
          </a:p>
          <a:p>
            <a:r>
              <a:t>• F1 balances precision and recall.</a:t>
            </a:r>
          </a:p>
          <a:p>
            <a:r>
              <a:t>• PR-AUC is average precision and measures ranking for the failed class.</a:t>
            </a:r>
          </a:p>
          <a:p>
            <a:r>
              <a:t>• Threshold analysis uses validation predictions only; final test uses the default rule.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60–75 seconds.</a:t>
            </a:r>
          </a:p>
          <a:p>
            <a:r>
              <a:t>• Baseline proves why accuracy is misleading.</a:t>
            </a:r>
          </a:p>
          <a:p>
            <a:r>
              <a:t>• Logistic Regression detects the largest share of failures but creates many false alarms.</a:t>
            </a:r>
          </a:p>
          <a:p>
            <a:r>
              <a:t>• Random Forest is more selective and has the highest observed final-test PR-AUC and F1.</a:t>
            </a:r>
          </a:p>
          <a:p>
            <a:r>
              <a:t>• Gradient Boosting was selected before final-test evaluation and has the highest balanced accuracy.</a:t>
            </a:r>
          </a:p>
          <a:p>
            <a:r>
              <a:t>• Do not call one model universally best.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75–90 seconds.</a:t>
            </a:r>
          </a:p>
          <a:p>
            <a:r>
              <a:t>• This is the most important result slide.</a:t>
            </a:r>
          </a:p>
          <a:p>
            <a:r>
              <a:t>• Logistic Regression detects 1,041 failures but creates 9,906 false alarms.</a:t>
            </a:r>
          </a:p>
          <a:p>
            <a:r>
              <a:t>• Random Forest creates fewer alerts but misses more failures.</a:t>
            </a:r>
          </a:p>
          <a:p>
            <a:r>
              <a:t>• Gradient Boosting sits between them.</a:t>
            </a:r>
          </a:p>
          <a:p>
            <a:r>
              <a:t>• The best choice depends on missed-failure cost and review capacity, which are not estimated 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45–60 seconds.</a:t>
            </a:r>
          </a:p>
          <a:p>
            <a:r>
              <a:t>• PR curves focus on the rare failed class.</a:t>
            </a:r>
          </a:p>
          <a:p>
            <a:r>
              <a:t>• Average precision is very close: RF 0.159, GB 0.158, LR 0.153.</a:t>
            </a:r>
          </a:p>
          <a:p>
            <a:r>
              <a:t>• Similar ranking does not mean similar classifications at the default threshold.</a:t>
            </a:r>
          </a:p>
          <a:p>
            <a:r>
              <a:t>• This is why ranking metrics and confusion matrices must both be discussed.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45–60 seconds.</a:t>
            </a:r>
          </a:p>
          <a:p>
            <a:r>
              <a:t>• Coefficients are signed because Logistic Regression is interpretable.</a:t>
            </a:r>
          </a:p>
          <a:p>
            <a:r>
              <a:t>• Current assets and market value have the largest negative coefficients.</a:t>
            </a:r>
          </a:p>
          <a:p>
            <a:r>
              <a:t>• Negative means lower predicted failure log-odds, holding other predictors fixed.</a:t>
            </a:r>
          </a:p>
          <a:p>
            <a:r>
              <a:t>• Do not interpret coefficients or feature importance causally.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35–45 seconds.</a:t>
            </a:r>
          </a:p>
          <a:p>
            <a:r>
              <a:t>• PCA retains variance quickly.</a:t>
            </a:r>
          </a:p>
          <a:p>
            <a:r>
              <a:t>• But high explained variance does not automatically improve classification.</a:t>
            </a:r>
          </a:p>
          <a:p>
            <a:r>
              <a:t>• Ten to twelve components perform similarly to the original Logistic Regression.</a:t>
            </a:r>
          </a:p>
          <a:p>
            <a:r>
              <a:t>• PCA also reduces financial interpretability.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seconds.</a:t>
            </a:r>
          </a:p>
          <a:p>
            <a:r>
              <a:t>• The project shows useful screening information in financial variables.</a:t>
            </a:r>
          </a:p>
          <a:p>
            <a:r>
              <a:t>• It does not show causality, calibrated probabilities, or a production-ready rule.</a:t>
            </a:r>
          </a:p>
          <a:p>
            <a:r>
              <a:t>• Main limitation: not a chronological forecasting backtest.</a:t>
            </a:r>
          </a:p>
          <a:p>
            <a:r>
              <a:t>• Final answer: bankruptcy prediction remains difficult; model choice depends on the screening objective.</a:t>
            </a:r>
          </a:p>
          <a:p>
            <a:r>
              <a:t>• Future work: horizon, chronological evaluation, costs, review capacity.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10 seconds.</a:t>
            </a:r>
          </a:p>
          <a:p>
            <a:r>
              <a:t>Thank the audience and invite questions. Use backup slides if asked.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about hyperparameters or why the grids were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for the complete final-test numbers beyond the main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how thresholds were selected. Emphasize validation-only and review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which financial variables mattered in the tree models. Importance has no direction and is not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about reproducibility. Mention Pixi, pytask, tests, and saved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/>
          <p:cNvGrpSpPr>
            <a:grpSpLocks noChangeAspect="1"/>
          </p:cNvGrpSpPr>
          <p:nvPr userDrawn="1"/>
        </p:nvGrpSpPr>
        <p:grpSpPr>
          <a:xfrm>
            <a:off x="4997700" y="1"/>
            <a:ext cx="7202471" cy="6858000"/>
            <a:chOff x="3778209" y="0"/>
            <a:chExt cx="5444993" cy="5184775"/>
          </a:xfrm>
        </p:grpSpPr>
        <p:pic>
          <p:nvPicPr>
            <p:cNvPr id="29" name="Grafik 2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8209" y="0"/>
              <a:ext cx="5444993" cy="5184775"/>
            </a:xfrm>
            <a:prstGeom prst="rect">
              <a:avLst/>
            </a:prstGeom>
          </p:spPr>
        </p:pic>
        <p:pic>
          <p:nvPicPr>
            <p:cNvPr id="30" name="Grafik 29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0771" y="1620454"/>
              <a:ext cx="1975907" cy="26532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1715346" y="2095720"/>
            <a:ext cx="6666759" cy="476179"/>
          </a:xfrm>
        </p:spPr>
        <p:txBody>
          <a:bodyPr wrap="none" bIns="0" anchor="b" anchorCtr="0"/>
          <a:lstStyle>
            <a:lvl1pPr>
              <a:lnSpc>
                <a:spcPts val="3174"/>
              </a:lnSpc>
              <a:defRPr sz="3174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715346" y="2571782"/>
            <a:ext cx="6666759" cy="2476130"/>
          </a:xfrm>
        </p:spPr>
        <p:txBody>
          <a:bodyPr tIns="0" bIns="0"/>
          <a:lstStyle>
            <a:lvl1pPr marL="0" indent="0" algn="l">
              <a:lnSpc>
                <a:spcPts val="4762"/>
              </a:lnSpc>
              <a:spcBef>
                <a:spcPts val="0"/>
              </a:spcBef>
              <a:spcAft>
                <a:spcPts val="0"/>
              </a:spcAft>
              <a:buNone/>
              <a:defRPr sz="4233" cap="all" baseline="0">
                <a:solidFill>
                  <a:schemeClr val="accent2"/>
                </a:solidFill>
                <a:latin typeface="Exo 2 Semi Bold" pitchFamily="50" charset="0"/>
              </a:defRPr>
            </a:lvl1pPr>
            <a:lvl2pPr marL="60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94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14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18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23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28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33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37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grpSp>
        <p:nvGrpSpPr>
          <p:cNvPr id="70" name="Gruppieren 69"/>
          <p:cNvGrpSpPr>
            <a:grpSpLocks noChangeAspect="1"/>
          </p:cNvGrpSpPr>
          <p:nvPr userDrawn="1"/>
        </p:nvGrpSpPr>
        <p:grpSpPr>
          <a:xfrm>
            <a:off x="381001" y="381211"/>
            <a:ext cx="2230875" cy="857122"/>
            <a:chOff x="7081838" y="144463"/>
            <a:chExt cx="1871662" cy="719137"/>
          </a:xfrm>
        </p:grpSpPr>
        <p:sp>
          <p:nvSpPr>
            <p:cNvPr id="71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2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9" name="Freeform 12"/>
            <p:cNvSpPr>
              <a:spLocks/>
            </p:cNvSpPr>
            <p:nvPr userDrawn="1"/>
          </p:nvSpPr>
          <p:spPr bwMode="auto">
            <a:xfrm>
              <a:off x="7081838" y="692150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0" name="Freeform 13"/>
            <p:cNvSpPr>
              <a:spLocks/>
            </p:cNvSpPr>
            <p:nvPr userDrawn="1"/>
          </p:nvSpPr>
          <p:spPr bwMode="auto">
            <a:xfrm>
              <a:off x="7207250" y="692150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1" name="Rectangle 14"/>
            <p:cNvSpPr>
              <a:spLocks noChangeArrowheads="1"/>
            </p:cNvSpPr>
            <p:nvPr userDrawn="1"/>
          </p:nvSpPr>
          <p:spPr bwMode="auto">
            <a:xfrm>
              <a:off x="7340600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2" name="Freeform 15"/>
            <p:cNvSpPr>
              <a:spLocks/>
            </p:cNvSpPr>
            <p:nvPr userDrawn="1"/>
          </p:nvSpPr>
          <p:spPr bwMode="auto">
            <a:xfrm>
              <a:off x="7378700" y="692150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3" name="Freeform 16"/>
            <p:cNvSpPr>
              <a:spLocks/>
            </p:cNvSpPr>
            <p:nvPr userDrawn="1"/>
          </p:nvSpPr>
          <p:spPr bwMode="auto">
            <a:xfrm>
              <a:off x="7505700" y="692150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4" name="Freeform 17"/>
            <p:cNvSpPr>
              <a:spLocks noEditPoints="1"/>
            </p:cNvSpPr>
            <p:nvPr userDrawn="1"/>
          </p:nvSpPr>
          <p:spPr bwMode="auto">
            <a:xfrm>
              <a:off x="7612063" y="690563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5" name="Freeform 18"/>
            <p:cNvSpPr>
              <a:spLocks/>
            </p:cNvSpPr>
            <p:nvPr userDrawn="1"/>
          </p:nvSpPr>
          <p:spPr bwMode="auto">
            <a:xfrm>
              <a:off x="7723188" y="688975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6" name="Rectangle 19"/>
            <p:cNvSpPr>
              <a:spLocks noChangeArrowheads="1"/>
            </p:cNvSpPr>
            <p:nvPr userDrawn="1"/>
          </p:nvSpPr>
          <p:spPr bwMode="auto">
            <a:xfrm>
              <a:off x="7834313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7" name="Freeform 20"/>
            <p:cNvSpPr>
              <a:spLocks/>
            </p:cNvSpPr>
            <p:nvPr userDrawn="1"/>
          </p:nvSpPr>
          <p:spPr bwMode="auto">
            <a:xfrm>
              <a:off x="7872413" y="692150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8" name="Freeform 21"/>
            <p:cNvSpPr>
              <a:spLocks noEditPoints="1"/>
            </p:cNvSpPr>
            <p:nvPr userDrawn="1"/>
          </p:nvSpPr>
          <p:spPr bwMode="auto">
            <a:xfrm>
              <a:off x="7969250" y="657225"/>
              <a:ext cx="114300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9" name="Freeform 22"/>
            <p:cNvSpPr>
              <a:spLocks/>
            </p:cNvSpPr>
            <p:nvPr userDrawn="1"/>
          </p:nvSpPr>
          <p:spPr bwMode="auto">
            <a:xfrm>
              <a:off x="8078788" y="692150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</p:spTree>
    <p:extLst>
      <p:ext uri="{BB962C8B-B14F-4D97-AF65-F5344CB8AC3E}">
        <p14:creationId xmlns:p14="http://schemas.microsoft.com/office/powerpoint/2010/main" val="16659792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2270" y="1619806"/>
            <a:ext cx="11428729" cy="438084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21BD-6B3C-47BC-83C4-1C45CD0812D9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57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1715452" y="2095593"/>
            <a:ext cx="8571547" cy="476179"/>
          </a:xfrm>
        </p:spPr>
        <p:txBody>
          <a:bodyPr wrap="none" bIns="0" anchor="b" anchorCtr="0"/>
          <a:lstStyle>
            <a:lvl1pPr marL="0" indent="0">
              <a:lnSpc>
                <a:spcPts val="3174"/>
              </a:lnSpc>
              <a:spcBef>
                <a:spcPts val="0"/>
              </a:spcBef>
              <a:spcAft>
                <a:spcPts val="0"/>
              </a:spcAft>
              <a:buNone/>
              <a:defRPr sz="3704" cap="all" baseline="0">
                <a:solidFill>
                  <a:schemeClr val="accent1"/>
                </a:solidFill>
                <a:latin typeface="+mj-lt"/>
              </a:defRPr>
            </a:lvl1pPr>
            <a:lvl2pPr marL="604738" indent="0">
              <a:buNone/>
              <a:defRPr sz="2381">
                <a:solidFill>
                  <a:schemeClr val="tx1">
                    <a:tint val="75000"/>
                  </a:schemeClr>
                </a:solidFill>
              </a:defRPr>
            </a:lvl2pPr>
            <a:lvl3pPr marL="1209477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3pPr>
            <a:lvl4pPr marL="1814215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4pPr>
            <a:lvl5pPr marL="241895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5pPr>
            <a:lvl6pPr marL="3023692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6pPr>
            <a:lvl7pPr marL="3628431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7pPr>
            <a:lvl8pPr marL="4233169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8pPr>
            <a:lvl9pPr marL="483790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itel 1"/>
          <p:cNvSpPr>
            <a:spLocks noGrp="1"/>
          </p:cNvSpPr>
          <p:nvPr userDrawn="1">
            <p:ph type="title"/>
          </p:nvPr>
        </p:nvSpPr>
        <p:spPr>
          <a:xfrm>
            <a:off x="1715452" y="2572036"/>
            <a:ext cx="8571547" cy="2285658"/>
          </a:xfrm>
        </p:spPr>
        <p:txBody>
          <a:bodyPr anchor="t"/>
          <a:lstStyle>
            <a:lvl1pPr algn="l">
              <a:lnSpc>
                <a:spcPts val="5820"/>
              </a:lnSpc>
              <a:defRPr sz="5291" b="0" cap="all">
                <a:solidFill>
                  <a:schemeClr val="accent2"/>
                </a:solidFill>
                <a:latin typeface="Exo 2 Semi Bold" pitchFamily="50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Datumsplatzhalter 6" hidden="1"/>
          <p:cNvSpPr>
            <a:spLocks noGrp="1"/>
          </p:cNvSpPr>
          <p:nvPr>
            <p:ph type="dt" sz="half" idx="10"/>
          </p:nvPr>
        </p:nvSpPr>
        <p:spPr>
          <a:xfrm>
            <a:off x="381000" y="6953114"/>
            <a:ext cx="1142873" cy="380943"/>
          </a:xfrm>
        </p:spPr>
        <p:txBody>
          <a:bodyPr/>
          <a:lstStyle/>
          <a:p>
            <a:fld id="{30A2658B-9DCA-4C61-BE60-88DEF3D1D478}" type="datetime1">
              <a:rPr lang="de-DE" smtClean="0"/>
              <a:t>25.09.2023</a:t>
            </a:fld>
            <a:endParaRPr lang="de-DE"/>
          </a:p>
        </p:txBody>
      </p:sp>
      <p:sp>
        <p:nvSpPr>
          <p:cNvPr id="8" name="Fußzeilenplatzhalter 7" hidden="1"/>
          <p:cNvSpPr>
            <a:spLocks noGrp="1"/>
          </p:cNvSpPr>
          <p:nvPr>
            <p:ph type="ftr" sz="quarter" idx="11"/>
          </p:nvPr>
        </p:nvSpPr>
        <p:spPr>
          <a:xfrm>
            <a:off x="2762249" y="6953156"/>
            <a:ext cx="6666759" cy="380943"/>
          </a:xfrm>
        </p:spPr>
        <p:txBody>
          <a:bodyPr/>
          <a:lstStyle/>
          <a:p>
            <a:r>
              <a:rPr lang="de-DE"/>
              <a:t>Präsentationstitel/Autor/Veranstaltung</a:t>
            </a:r>
            <a:endParaRPr lang="de-DE" dirty="0"/>
          </a:p>
        </p:txBody>
      </p:sp>
      <p:sp>
        <p:nvSpPr>
          <p:cNvPr id="9" name="Foliennummernplatzhalter 8" hidden="1"/>
          <p:cNvSpPr>
            <a:spLocks noGrp="1"/>
          </p:cNvSpPr>
          <p:nvPr>
            <p:ph type="sldNum" sz="quarter" idx="12"/>
          </p:nvPr>
        </p:nvSpPr>
        <p:spPr>
          <a:xfrm>
            <a:off x="11049084" y="6953114"/>
            <a:ext cx="761915" cy="380943"/>
          </a:xfrm>
        </p:spPr>
        <p:txBody>
          <a:bodyPr/>
          <a:lstStyle/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10" name="Gruppieren 9"/>
          <p:cNvGrpSpPr>
            <a:grpSpLocks noChangeAspect="1"/>
          </p:cNvGrpSpPr>
          <p:nvPr userDrawn="1"/>
        </p:nvGrpSpPr>
        <p:grpSpPr>
          <a:xfrm>
            <a:off x="381003" y="381211"/>
            <a:ext cx="2230877" cy="857122"/>
            <a:chOff x="7081838" y="144463"/>
            <a:chExt cx="1871662" cy="719137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2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7081838" y="695058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7207250" y="695058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1" name="Rectangle 14"/>
            <p:cNvSpPr>
              <a:spLocks noChangeArrowheads="1"/>
            </p:cNvSpPr>
            <p:nvPr userDrawn="1"/>
          </p:nvSpPr>
          <p:spPr bwMode="auto">
            <a:xfrm>
              <a:off x="7340600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7378701" y="695058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7505700" y="695058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4" name="Freeform 17"/>
            <p:cNvSpPr>
              <a:spLocks noEditPoints="1"/>
            </p:cNvSpPr>
            <p:nvPr userDrawn="1"/>
          </p:nvSpPr>
          <p:spPr bwMode="auto">
            <a:xfrm>
              <a:off x="7612063" y="693471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723188" y="691883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6" name="Rectangle 19"/>
            <p:cNvSpPr>
              <a:spLocks noChangeArrowheads="1"/>
            </p:cNvSpPr>
            <p:nvPr userDrawn="1"/>
          </p:nvSpPr>
          <p:spPr bwMode="auto">
            <a:xfrm>
              <a:off x="7834312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7" name="Freeform 20"/>
            <p:cNvSpPr>
              <a:spLocks/>
            </p:cNvSpPr>
            <p:nvPr userDrawn="1"/>
          </p:nvSpPr>
          <p:spPr bwMode="auto">
            <a:xfrm>
              <a:off x="7872413" y="695058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8" name="Freeform 21"/>
            <p:cNvSpPr>
              <a:spLocks noEditPoints="1"/>
            </p:cNvSpPr>
            <p:nvPr userDrawn="1"/>
          </p:nvSpPr>
          <p:spPr bwMode="auto">
            <a:xfrm>
              <a:off x="7969250" y="660133"/>
              <a:ext cx="114299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9" name="Freeform 22"/>
            <p:cNvSpPr>
              <a:spLocks/>
            </p:cNvSpPr>
            <p:nvPr userDrawn="1"/>
          </p:nvSpPr>
          <p:spPr bwMode="auto">
            <a:xfrm>
              <a:off x="8078788" y="695058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</p:spTree>
    <p:extLst>
      <p:ext uri="{BB962C8B-B14F-4D97-AF65-F5344CB8AC3E}">
        <p14:creationId xmlns:p14="http://schemas.microsoft.com/office/powerpoint/2010/main" val="40411444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614" y="1618335"/>
            <a:ext cx="5523886" cy="4382316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381"/>
            </a:lvl6pPr>
            <a:lvl7pPr>
              <a:defRPr sz="2381"/>
            </a:lvl7pPr>
            <a:lvl8pPr>
              <a:defRPr sz="2381"/>
            </a:lvl8pPr>
            <a:lvl9pPr>
              <a:defRPr sz="2381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86499" y="1619806"/>
            <a:ext cx="5523886" cy="4380845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381"/>
            </a:lvl6pPr>
            <a:lvl7pPr>
              <a:defRPr sz="2381"/>
            </a:lvl7pPr>
            <a:lvl8pPr>
              <a:defRPr sz="2381"/>
            </a:lvl8pPr>
            <a:lvl9pPr>
              <a:defRPr sz="2381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F23B7-A4E0-4A45-AADF-CD5A63F6F289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8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614" y="1619382"/>
            <a:ext cx="5523886" cy="571415"/>
          </a:xfrm>
        </p:spPr>
        <p:txBody>
          <a:bodyPr wrap="none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74" b="0" cap="all" baseline="0"/>
            </a:lvl1pPr>
            <a:lvl2pPr marL="604738" indent="0">
              <a:buNone/>
              <a:defRPr sz="2645" b="1"/>
            </a:lvl2pPr>
            <a:lvl3pPr marL="1209477" indent="0">
              <a:buNone/>
              <a:defRPr sz="2381" b="1"/>
            </a:lvl3pPr>
            <a:lvl4pPr marL="1814215" indent="0">
              <a:buNone/>
              <a:defRPr sz="2116" b="1"/>
            </a:lvl4pPr>
            <a:lvl5pPr marL="2418954" indent="0">
              <a:buNone/>
              <a:defRPr sz="2116" b="1"/>
            </a:lvl5pPr>
            <a:lvl6pPr marL="3023692" indent="0">
              <a:buNone/>
              <a:defRPr sz="2116" b="1"/>
            </a:lvl6pPr>
            <a:lvl7pPr marL="3628431" indent="0">
              <a:buNone/>
              <a:defRPr sz="2116" b="1"/>
            </a:lvl7pPr>
            <a:lvl8pPr marL="4233169" indent="0">
              <a:buNone/>
              <a:defRPr sz="2116" b="1"/>
            </a:lvl8pPr>
            <a:lvl9pPr marL="4837908" indent="0">
              <a:buNone/>
              <a:defRPr sz="2116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80672" y="2380665"/>
            <a:ext cx="5524827" cy="3619985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116"/>
            </a:lvl6pPr>
            <a:lvl7pPr>
              <a:defRPr sz="2116"/>
            </a:lvl7pPr>
            <a:lvl8pPr>
              <a:defRPr sz="2116"/>
            </a:lvl8pPr>
            <a:lvl9pPr>
              <a:defRPr sz="211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86170" y="1619382"/>
            <a:ext cx="5524829" cy="571415"/>
          </a:xfrm>
        </p:spPr>
        <p:txBody>
          <a:bodyPr wrap="none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74" b="0" cap="all" baseline="0"/>
            </a:lvl1pPr>
            <a:lvl2pPr marL="604738" indent="0">
              <a:buNone/>
              <a:defRPr sz="2645" b="1"/>
            </a:lvl2pPr>
            <a:lvl3pPr marL="1209477" indent="0">
              <a:buNone/>
              <a:defRPr sz="2381" b="1"/>
            </a:lvl3pPr>
            <a:lvl4pPr marL="1814215" indent="0">
              <a:buNone/>
              <a:defRPr sz="2116" b="1"/>
            </a:lvl4pPr>
            <a:lvl5pPr marL="2418954" indent="0">
              <a:buNone/>
              <a:defRPr sz="2116" b="1"/>
            </a:lvl5pPr>
            <a:lvl6pPr marL="3023692" indent="0">
              <a:buNone/>
              <a:defRPr sz="2116" b="1"/>
            </a:lvl6pPr>
            <a:lvl7pPr marL="3628431" indent="0">
              <a:buNone/>
              <a:defRPr sz="2116" b="1"/>
            </a:lvl7pPr>
            <a:lvl8pPr marL="4233169" indent="0">
              <a:buNone/>
              <a:defRPr sz="2116" b="1"/>
            </a:lvl8pPr>
            <a:lvl9pPr marL="4837908" indent="0">
              <a:buNone/>
              <a:defRPr sz="2116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87113" y="2381692"/>
            <a:ext cx="5523886" cy="3618959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116"/>
            </a:lvl6pPr>
            <a:lvl7pPr>
              <a:defRPr sz="2116"/>
            </a:lvl7pPr>
            <a:lvl8pPr>
              <a:defRPr sz="2116"/>
            </a:lvl8pPr>
            <a:lvl9pPr>
              <a:defRPr sz="211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A310-62CF-4C13-8E83-90FE2584EEDC}" type="datetime1">
              <a:rPr lang="de-DE" smtClean="0"/>
              <a:t>25.09.2023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2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618335"/>
            <a:ext cx="2476225" cy="43823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Font typeface="Arial" panose="020B0604020202020204" pitchFamily="34" charset="0"/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238500" y="1618335"/>
            <a:ext cx="8572499" cy="43823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439F-E434-4863-9F94-40224B9CDFEB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45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619319"/>
            <a:ext cx="11428729" cy="114331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82270" y="3142879"/>
            <a:ext cx="11428729" cy="2857771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26E6-14F6-4DCD-8A58-C4BA917EDB34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2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81000" y="1619319"/>
            <a:ext cx="11428729" cy="2857073"/>
          </a:xfrm>
        </p:spPr>
        <p:txBody>
          <a:bodyPr/>
          <a:lstStyle>
            <a:lvl1pPr marL="0" indent="0"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1000" y="4857822"/>
            <a:ext cx="11428729" cy="114282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110B-FC60-4FAB-ACE1-146858AC5C12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70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el, zwei Inhalte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 hasCustomPrompt="1"/>
          </p:nvPr>
        </p:nvSpPr>
        <p:spPr>
          <a:xfrm>
            <a:off x="381000" y="1619636"/>
            <a:ext cx="5523886" cy="2857073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6287113" y="1619636"/>
            <a:ext cx="5523886" cy="2857073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half" idx="3"/>
          </p:nvPr>
        </p:nvSpPr>
        <p:spPr>
          <a:xfrm>
            <a:off x="381000" y="4857822"/>
            <a:ext cx="11431837" cy="1142829"/>
          </a:xfrm>
        </p:spPr>
        <p:txBody>
          <a:bodyPr/>
          <a:lstStyle>
            <a:lvl1pPr marL="0" indent="0">
              <a:spcAft>
                <a:spcPts val="556"/>
              </a:spcAft>
              <a:buNone/>
              <a:defRPr sz="1852"/>
            </a:lvl1pPr>
            <a:lvl2pPr marL="285703" indent="0">
              <a:spcAft>
                <a:spcPts val="556"/>
              </a:spcAft>
              <a:buNone/>
              <a:defRPr sz="1852"/>
            </a:lvl2pPr>
            <a:lvl3pPr marL="571406" indent="0">
              <a:spcAft>
                <a:spcPts val="556"/>
              </a:spcAft>
              <a:buNone/>
              <a:defRPr sz="1852"/>
            </a:lvl3pPr>
            <a:lvl4pPr marL="857110" indent="0">
              <a:spcAft>
                <a:spcPts val="556"/>
              </a:spcAft>
              <a:buNone/>
              <a:defRPr sz="1852"/>
            </a:lvl4pPr>
            <a:lvl5pPr marL="1142813" indent="0">
              <a:spcAft>
                <a:spcPts val="556"/>
              </a:spcAft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09F38-DEF5-4898-9CDF-BDB6157DFE11}" type="datetime1">
              <a:rPr lang="de-DE" smtClean="0"/>
              <a:t>25.09.2023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31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0084" y="1618960"/>
            <a:ext cx="5524827" cy="4382316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6287091" y="1618960"/>
            <a:ext cx="5524829" cy="2001124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 hasCustomPrompt="1"/>
          </p:nvPr>
        </p:nvSpPr>
        <p:spPr>
          <a:xfrm>
            <a:off x="6287091" y="4000151"/>
            <a:ext cx="5524829" cy="2001124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6026F-1588-4FB1-8845-F95DAFF0F3E9}" type="datetime1">
              <a:rPr lang="de-DE" smtClean="0"/>
              <a:t>25.09.2023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57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380082" y="1618960"/>
            <a:ext cx="5524827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287091" y="1618960"/>
            <a:ext cx="5524829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394977" y="4000151"/>
            <a:ext cx="5509932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87091" y="4000151"/>
            <a:ext cx="5524829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7377-EED6-47C3-9B1D-CF36F0FCD8B4}" type="datetime1">
              <a:rPr lang="de-DE" smtClean="0"/>
              <a:t>25.09.2023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81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6511"/>
          </a:xfrm>
        </p:spPr>
        <p:txBody>
          <a:bodyPr anchor="b"/>
          <a:lstStyle>
            <a:lvl1pPr algn="l">
              <a:defRPr sz="3174" b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2270" y="1618959"/>
            <a:ext cx="11428729" cy="3904666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0081" y="5524472"/>
            <a:ext cx="11428729" cy="476179"/>
          </a:xfrm>
        </p:spPr>
        <p:txBody>
          <a:bodyPr anchor="ctr" anchorCtr="0"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8E8-8A29-4D85-A2C3-6995032989B7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10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7122"/>
          </a:xfrm>
        </p:spPr>
        <p:txBody>
          <a:bodyPr anchor="b"/>
          <a:lstStyle>
            <a:lvl1pPr algn="l">
              <a:defRPr sz="3174" b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1868" y="1618958"/>
            <a:ext cx="7809631" cy="4380845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72499" y="1618958"/>
            <a:ext cx="3239420" cy="4380845"/>
          </a:xfrm>
        </p:spPr>
        <p:txBody>
          <a:bodyPr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A51E-5224-4001-A6A1-6147DB41844D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0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mit 2-spaltigem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7122"/>
          </a:xfrm>
        </p:spPr>
        <p:txBody>
          <a:bodyPr anchor="b" anchorCtr="0"/>
          <a:lstStyle>
            <a:lvl1pPr algn="l">
              <a:defRPr lang="de-DE" dirty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1868" y="1618957"/>
            <a:ext cx="2476092" cy="2001126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238500" y="1618958"/>
            <a:ext cx="8573420" cy="4380845"/>
          </a:xfrm>
        </p:spPr>
        <p:txBody>
          <a:bodyPr numCol="2" spcCol="216000"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59EA-2A08-45BF-9248-C0AD7AEF30D3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380082" y="4000151"/>
            <a:ext cx="2477878" cy="2001124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4345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6472-5AB0-4742-9C4D-F8F2B67B83AE}" type="datetime1">
              <a:rPr lang="de-DE" smtClean="0"/>
              <a:t>25.09.2023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232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520C-6F56-480F-8597-220998799912}" type="datetime1">
              <a:rPr lang="de-DE" smtClean="0"/>
              <a:t>25.09.2023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466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-1" y="1238893"/>
            <a:ext cx="12192000" cy="5619108"/>
          </a:xfrm>
          <a:noFill/>
        </p:spPr>
        <p:txBody>
          <a:bodyPr lIns="1296000" tIns="720000" rIns="1440000"/>
          <a:lstStyle>
            <a:lvl1pPr marL="0" indent="0">
              <a:lnSpc>
                <a:spcPts val="4233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10341" algn="l"/>
              </a:tabLst>
              <a:defRPr sz="3704" baseline="0"/>
            </a:lvl1pPr>
          </a:lstStyle>
          <a:p>
            <a:pPr lvl="0"/>
            <a:r>
              <a:rPr lang="de-DE" dirty="0"/>
              <a:t>Durch Klicken individuelle Dankesformel hinzufügen</a:t>
            </a:r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14500" y="4382317"/>
            <a:ext cx="5524827" cy="1618958"/>
          </a:xfrm>
        </p:spPr>
        <p:txBody>
          <a:bodyPr/>
          <a:lstStyle>
            <a:lvl1pPr marL="0" indent="0">
              <a:buNone/>
              <a:defRPr sz="1852" baseline="0"/>
            </a:lvl1pPr>
          </a:lstStyle>
          <a:p>
            <a:pPr lvl="0"/>
            <a:r>
              <a:rPr lang="de-DE" dirty="0"/>
              <a:t>Durch Klicken Autor/Adresse/Kontaktdaten hinzufügen</a:t>
            </a:r>
          </a:p>
        </p:txBody>
      </p:sp>
      <p:grpSp>
        <p:nvGrpSpPr>
          <p:cNvPr id="31" name="Gruppieren 30"/>
          <p:cNvGrpSpPr>
            <a:grpSpLocks noChangeAspect="1"/>
          </p:cNvGrpSpPr>
          <p:nvPr userDrawn="1"/>
        </p:nvGrpSpPr>
        <p:grpSpPr>
          <a:xfrm>
            <a:off x="381001" y="381211"/>
            <a:ext cx="2230875" cy="857122"/>
            <a:chOff x="7081838" y="144463"/>
            <a:chExt cx="1871662" cy="719137"/>
          </a:xfrm>
        </p:grpSpPr>
        <p:sp>
          <p:nvSpPr>
            <p:cNvPr id="52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3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4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5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6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7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8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0" name="Freeform 12"/>
            <p:cNvSpPr>
              <a:spLocks/>
            </p:cNvSpPr>
            <p:nvPr userDrawn="1"/>
          </p:nvSpPr>
          <p:spPr bwMode="auto">
            <a:xfrm>
              <a:off x="7081838" y="692150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1" name="Freeform 13"/>
            <p:cNvSpPr>
              <a:spLocks/>
            </p:cNvSpPr>
            <p:nvPr userDrawn="1"/>
          </p:nvSpPr>
          <p:spPr bwMode="auto">
            <a:xfrm>
              <a:off x="7207250" y="692150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2" name="Rectangle 14"/>
            <p:cNvSpPr>
              <a:spLocks noChangeArrowheads="1"/>
            </p:cNvSpPr>
            <p:nvPr userDrawn="1"/>
          </p:nvSpPr>
          <p:spPr bwMode="auto">
            <a:xfrm>
              <a:off x="7340600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3" name="Freeform 15"/>
            <p:cNvSpPr>
              <a:spLocks/>
            </p:cNvSpPr>
            <p:nvPr userDrawn="1"/>
          </p:nvSpPr>
          <p:spPr bwMode="auto">
            <a:xfrm>
              <a:off x="7378700" y="692150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4" name="Freeform 16"/>
            <p:cNvSpPr>
              <a:spLocks/>
            </p:cNvSpPr>
            <p:nvPr userDrawn="1"/>
          </p:nvSpPr>
          <p:spPr bwMode="auto">
            <a:xfrm>
              <a:off x="7505700" y="692150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5" name="Freeform 17"/>
            <p:cNvSpPr>
              <a:spLocks noEditPoints="1"/>
            </p:cNvSpPr>
            <p:nvPr userDrawn="1"/>
          </p:nvSpPr>
          <p:spPr bwMode="auto">
            <a:xfrm>
              <a:off x="7612063" y="690563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6" name="Freeform 18"/>
            <p:cNvSpPr>
              <a:spLocks/>
            </p:cNvSpPr>
            <p:nvPr userDrawn="1"/>
          </p:nvSpPr>
          <p:spPr bwMode="auto">
            <a:xfrm>
              <a:off x="7723188" y="688975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7" name="Rectangle 19"/>
            <p:cNvSpPr>
              <a:spLocks noChangeArrowheads="1"/>
            </p:cNvSpPr>
            <p:nvPr userDrawn="1"/>
          </p:nvSpPr>
          <p:spPr bwMode="auto">
            <a:xfrm>
              <a:off x="7834313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8" name="Freeform 20"/>
            <p:cNvSpPr>
              <a:spLocks/>
            </p:cNvSpPr>
            <p:nvPr userDrawn="1"/>
          </p:nvSpPr>
          <p:spPr bwMode="auto">
            <a:xfrm>
              <a:off x="7872413" y="692150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9" name="Freeform 21"/>
            <p:cNvSpPr>
              <a:spLocks noEditPoints="1"/>
            </p:cNvSpPr>
            <p:nvPr userDrawn="1"/>
          </p:nvSpPr>
          <p:spPr bwMode="auto">
            <a:xfrm>
              <a:off x="7969250" y="657225"/>
              <a:ext cx="114300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0" name="Freeform 22"/>
            <p:cNvSpPr>
              <a:spLocks/>
            </p:cNvSpPr>
            <p:nvPr userDrawn="1"/>
          </p:nvSpPr>
          <p:spPr bwMode="auto">
            <a:xfrm>
              <a:off x="8078788" y="692150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  <p:sp>
        <p:nvSpPr>
          <p:cNvPr id="71" name="Freeform 7"/>
          <p:cNvSpPr>
            <a:spLocks noChangeAspect="1"/>
          </p:cNvSpPr>
          <p:nvPr userDrawn="1"/>
        </p:nvSpPr>
        <p:spPr bwMode="auto">
          <a:xfrm>
            <a:off x="1714499" y="0"/>
            <a:ext cx="10477500" cy="6856975"/>
          </a:xfrm>
          <a:custGeom>
            <a:avLst/>
            <a:gdLst>
              <a:gd name="T0" fmla="*/ 2000 w 2000"/>
              <a:gd name="T1" fmla="*/ 0 h 1349"/>
              <a:gd name="T2" fmla="*/ 1361 w 2000"/>
              <a:gd name="T3" fmla="*/ 0 h 1349"/>
              <a:gd name="T4" fmla="*/ 992 w 2000"/>
              <a:gd name="T5" fmla="*/ 627 h 1349"/>
              <a:gd name="T6" fmla="*/ 0 w 2000"/>
              <a:gd name="T7" fmla="*/ 1193 h 1349"/>
              <a:gd name="T8" fmla="*/ 0 w 2000"/>
              <a:gd name="T9" fmla="*/ 1349 h 1349"/>
              <a:gd name="T10" fmla="*/ 2000 w 2000"/>
              <a:gd name="T11" fmla="*/ 1349 h 1349"/>
              <a:gd name="T12" fmla="*/ 2000 w 2000"/>
              <a:gd name="T13" fmla="*/ 0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349">
                <a:moveTo>
                  <a:pt x="2000" y="0"/>
                </a:moveTo>
                <a:lnTo>
                  <a:pt x="1361" y="0"/>
                </a:lnTo>
                <a:cubicBezTo>
                  <a:pt x="1285" y="208"/>
                  <a:pt x="1168" y="419"/>
                  <a:pt x="992" y="627"/>
                </a:cubicBezTo>
                <a:cubicBezTo>
                  <a:pt x="644" y="1036"/>
                  <a:pt x="259" y="1159"/>
                  <a:pt x="0" y="1193"/>
                </a:cubicBezTo>
                <a:lnTo>
                  <a:pt x="0" y="1349"/>
                </a:lnTo>
                <a:lnTo>
                  <a:pt x="2000" y="1349"/>
                </a:lnTo>
                <a:lnTo>
                  <a:pt x="2000" y="0"/>
                </a:lnTo>
                <a:close/>
              </a:path>
            </a:pathLst>
          </a:custGeom>
          <a:solidFill>
            <a:srgbClr val="7A786C">
              <a:alpha val="15000"/>
            </a:srgbClr>
          </a:solidFill>
          <a:ln>
            <a:noFill/>
          </a:ln>
        </p:spPr>
        <p:txBody>
          <a:bodyPr vert="horz" wrap="square" lIns="120949" tIns="60475" rIns="120949" bIns="60475" numCol="1" anchor="t" anchorCtr="0" compatLnSpc="1">
            <a:prstTxWarp prst="textNoShape">
              <a:avLst/>
            </a:prstTxWarp>
          </a:bodyPr>
          <a:lstStyle/>
          <a:p>
            <a:endParaRPr lang="de-DE" sz="2381"/>
          </a:p>
        </p:txBody>
      </p:sp>
      <p:sp>
        <p:nvSpPr>
          <p:cNvPr id="5" name="Datumsplatzhalter 4" hidden="1"/>
          <p:cNvSpPr>
            <a:spLocks noGrp="1"/>
          </p:cNvSpPr>
          <p:nvPr>
            <p:ph type="dt" sz="half" idx="15"/>
          </p:nvPr>
        </p:nvSpPr>
        <p:spPr>
          <a:xfrm>
            <a:off x="381000" y="6953114"/>
            <a:ext cx="1142873" cy="380943"/>
          </a:xfrm>
        </p:spPr>
        <p:txBody>
          <a:bodyPr/>
          <a:lstStyle/>
          <a:p>
            <a:fld id="{30A2658B-9DCA-4C61-BE60-88DEF3D1D478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 hidden="1"/>
          <p:cNvSpPr>
            <a:spLocks noGrp="1"/>
          </p:cNvSpPr>
          <p:nvPr>
            <p:ph type="ftr" sz="quarter" idx="16"/>
          </p:nvPr>
        </p:nvSpPr>
        <p:spPr>
          <a:xfrm>
            <a:off x="2762249" y="6953156"/>
            <a:ext cx="6666759" cy="380943"/>
          </a:xfrm>
        </p:spPr>
        <p:txBody>
          <a:bodyPr/>
          <a:lstStyle/>
          <a:p>
            <a:r>
              <a:rPr lang="de-DE"/>
              <a:t>Präsentationstitel/Autor/Veranstaltung</a:t>
            </a:r>
            <a:endParaRPr lang="de-DE" dirty="0"/>
          </a:p>
        </p:txBody>
      </p:sp>
      <p:sp>
        <p:nvSpPr>
          <p:cNvPr id="8" name="Foliennummernplatzhalter 7" hidden="1"/>
          <p:cNvSpPr>
            <a:spLocks noGrp="1"/>
          </p:cNvSpPr>
          <p:nvPr>
            <p:ph type="sldNum" sz="quarter" idx="17"/>
          </p:nvPr>
        </p:nvSpPr>
        <p:spPr>
          <a:xfrm>
            <a:off x="11049084" y="6953114"/>
            <a:ext cx="761915" cy="380943"/>
          </a:xfrm>
        </p:spPr>
        <p:txBody>
          <a:bodyPr/>
          <a:lstStyle/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57475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234-98B7-49F4-85EF-8DAF56499769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25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953499" y="1618959"/>
            <a:ext cx="2858420" cy="4382316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80083" y="1618959"/>
            <a:ext cx="8190589" cy="438084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06BC5-04D9-4099-9923-D3D721330691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9159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616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1619319"/>
            <a:ext cx="11428729" cy="43808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81000" y="6381636"/>
            <a:ext cx="1142873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323">
                <a:solidFill>
                  <a:schemeClr val="accent1"/>
                </a:solidFill>
              </a:defRPr>
            </a:lvl1pPr>
          </a:lstStyle>
          <a:p>
            <a:fld id="{30A2658B-9DCA-4C61-BE60-88DEF3D1D478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62249" y="6381678"/>
            <a:ext cx="6666759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ctr">
              <a:defRPr sz="1323">
                <a:solidFill>
                  <a:schemeClr val="accent1"/>
                </a:solidFill>
              </a:defRPr>
            </a:lvl1pPr>
          </a:lstStyle>
          <a:p>
            <a:r>
              <a:rPr lang="de-DE"/>
              <a:t>Präsentationstitel/Autor/Veranstaltung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49084" y="6381636"/>
            <a:ext cx="761915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1323">
                <a:solidFill>
                  <a:schemeClr val="accent1"/>
                </a:solidFill>
              </a:defRPr>
            </a:lvl1pPr>
          </a:lstStyle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30" name="Gruppieren 29"/>
          <p:cNvGrpSpPr>
            <a:grpSpLocks noChangeAspect="1"/>
          </p:cNvGrpSpPr>
          <p:nvPr/>
        </p:nvGrpSpPr>
        <p:grpSpPr>
          <a:xfrm>
            <a:off x="381003" y="381211"/>
            <a:ext cx="2230877" cy="857122"/>
            <a:chOff x="7081838" y="144463"/>
            <a:chExt cx="1871662" cy="719137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1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7081838" y="695058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7207250" y="695058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1" name="Rectangle 14"/>
            <p:cNvSpPr>
              <a:spLocks noChangeArrowheads="1"/>
            </p:cNvSpPr>
            <p:nvPr userDrawn="1"/>
          </p:nvSpPr>
          <p:spPr bwMode="auto">
            <a:xfrm>
              <a:off x="7340600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7378701" y="695058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7505700" y="695058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4" name="Freeform 17"/>
            <p:cNvSpPr>
              <a:spLocks noEditPoints="1"/>
            </p:cNvSpPr>
            <p:nvPr userDrawn="1"/>
          </p:nvSpPr>
          <p:spPr bwMode="auto">
            <a:xfrm>
              <a:off x="7612063" y="693471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723188" y="691883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6" name="Rectangle 19"/>
            <p:cNvSpPr>
              <a:spLocks noChangeArrowheads="1"/>
            </p:cNvSpPr>
            <p:nvPr userDrawn="1"/>
          </p:nvSpPr>
          <p:spPr bwMode="auto">
            <a:xfrm>
              <a:off x="7834312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7" name="Freeform 20"/>
            <p:cNvSpPr>
              <a:spLocks/>
            </p:cNvSpPr>
            <p:nvPr userDrawn="1"/>
          </p:nvSpPr>
          <p:spPr bwMode="auto">
            <a:xfrm>
              <a:off x="7872413" y="695058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8" name="Freeform 21"/>
            <p:cNvSpPr>
              <a:spLocks noEditPoints="1"/>
            </p:cNvSpPr>
            <p:nvPr userDrawn="1"/>
          </p:nvSpPr>
          <p:spPr bwMode="auto">
            <a:xfrm>
              <a:off x="7969250" y="660133"/>
              <a:ext cx="114299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9" name="Freeform 22"/>
            <p:cNvSpPr>
              <a:spLocks/>
            </p:cNvSpPr>
            <p:nvPr userDrawn="1"/>
          </p:nvSpPr>
          <p:spPr bwMode="auto">
            <a:xfrm>
              <a:off x="8078788" y="695058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  <p:cxnSp>
        <p:nvCxnSpPr>
          <p:cNvPr id="8" name="Gerade Verbindung 7"/>
          <p:cNvCxnSpPr/>
          <p:nvPr/>
        </p:nvCxnSpPr>
        <p:spPr>
          <a:xfrm>
            <a:off x="380082" y="6381636"/>
            <a:ext cx="1143183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48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1209477" rtl="0" eaLnBrk="1" latinLnBrk="0" hangingPunct="1">
        <a:lnSpc>
          <a:spcPts val="3439"/>
        </a:lnSpc>
        <a:spcBef>
          <a:spcPts val="794"/>
        </a:spcBef>
        <a:buNone/>
        <a:defRPr sz="3174" kern="1200" cap="all" baseline="0">
          <a:solidFill>
            <a:schemeClr val="accent3"/>
          </a:solidFill>
          <a:latin typeface="Exo 2 Semi Bold" pitchFamily="50" charset="0"/>
          <a:ea typeface="+mj-ea"/>
          <a:cs typeface="+mj-cs"/>
        </a:defRPr>
      </a:lvl1pPr>
    </p:titleStyle>
    <p:bodyStyle>
      <a:lvl1pPr marL="285703" indent="-285703" algn="l" defTabSz="1209477" rtl="0" eaLnBrk="1" latinLnBrk="0" hangingPunct="1">
        <a:spcBef>
          <a:spcPts val="794"/>
        </a:spcBef>
        <a:spcAft>
          <a:spcPts val="794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1pPr>
      <a:lvl2pPr marL="571406" indent="-285703" algn="l" defTabSz="1209477" rtl="0" eaLnBrk="1" latinLnBrk="0" hangingPunct="1">
        <a:spcBef>
          <a:spcPts val="794"/>
        </a:spcBef>
        <a:spcAft>
          <a:spcPts val="397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2pPr>
      <a:lvl3pPr marL="857110" indent="-285703" algn="l" defTabSz="1209477" rtl="0" eaLnBrk="1" latinLnBrk="0" hangingPunct="1">
        <a:spcBef>
          <a:spcPts val="397"/>
        </a:spcBef>
        <a:spcAft>
          <a:spcPts val="397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3pPr>
      <a:lvl4pPr marL="1142813" indent="-285703" algn="l" defTabSz="1209477" rtl="0" eaLnBrk="1" latinLnBrk="0" hangingPunct="1">
        <a:spcBef>
          <a:spcPts val="397"/>
        </a:spcBef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4pPr>
      <a:lvl5pPr marL="1428516" indent="-285703" algn="l" defTabSz="1209477" rtl="0" eaLnBrk="1" latinLnBrk="0" hangingPunct="1">
        <a:spcBef>
          <a:spcPts val="0"/>
        </a:spcBef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5pPr>
      <a:lvl6pPr marL="3326061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6pPr>
      <a:lvl7pPr marL="3930800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7pPr>
      <a:lvl8pPr marL="4535538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8pPr>
      <a:lvl9pPr marL="5140277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604738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2pPr>
      <a:lvl3pPr marL="1209477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3pPr>
      <a:lvl4pPr marL="1814215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4pPr>
      <a:lvl5pPr marL="2418954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5pPr>
      <a:lvl6pPr marL="3023692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6pPr>
      <a:lvl7pPr marL="3628431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7pPr>
      <a:lvl8pPr marL="4233169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8pPr>
      <a:lvl9pPr marL="4837908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class_balance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1143000"/>
            <a:ext cx="98755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3000" b="1">
                <a:solidFill>
                  <a:srgbClr val="004B82"/>
                </a:solidFill>
                <a:latin typeface="Exo 2"/>
              </a:rPr>
              <a:t>Corporate Bankruptcy Risk Prediction</a:t>
            </a:r>
            <a:br/>
            <a:r>
              <a:rPr sz="3000" b="1">
                <a:solidFill>
                  <a:srgbClr val="004B82"/>
                </a:solidFill>
                <a:latin typeface="Exo 2"/>
              </a:rPr>
              <a:t>with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2057400"/>
            <a:ext cx="9601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800" b="0">
                <a:solidFill>
                  <a:srgbClr val="545B63"/>
                </a:solidFill>
                <a:latin typeface="Exo 2"/>
              </a:rPr>
              <a:t>Comparing Interpretable Logistic Regression and Tree-Based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063240"/>
            <a:ext cx="384048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500" b="0">
                <a:solidFill>
                  <a:srgbClr val="1E2226"/>
                </a:solidFill>
                <a:latin typeface="Exo 2"/>
              </a:rPr>
              <a:t>Berke Pehlivan</a:t>
            </a:r>
            <a:br/>
            <a:r>
              <a:rPr sz="1500" b="0">
                <a:solidFill>
                  <a:srgbClr val="1E2226"/>
                </a:solidFill>
                <a:latin typeface="Exo 2"/>
              </a:rPr>
              <a:t>Machine Learning for Finance</a:t>
            </a:r>
            <a:br/>
            <a:r>
              <a:rPr sz="1500" b="0">
                <a:solidFill>
                  <a:srgbClr val="1E2226"/>
                </a:solidFill>
                <a:latin typeface="Exo 2"/>
              </a:rPr>
              <a:t>University of Bonn</a:t>
            </a:r>
            <a:br/>
            <a:r>
              <a:rPr sz="1500" b="0">
                <a:solidFill>
                  <a:srgbClr val="1E2226"/>
                </a:solidFill>
                <a:latin typeface="Exo 2"/>
              </a:rPr>
              <a:t>Academic Year 2025/2026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3017520"/>
            <a:ext cx="3291840" cy="6400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700" b="1">
                <a:solidFill>
                  <a:srgbClr val="222A32"/>
                </a:solidFill>
                <a:latin typeface="Aptos"/>
              </a:rPr>
              <a:t>Rare failures  •  False alarms  •  Model trade-offs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Motivation and 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291840" cy="146304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Why it matters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Bankruptcy can create losses for lenders, investors, auditors, and other stakeholders.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291840" cy="14630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355C"/>
                </a:solidFill>
                <a:latin typeface="Exo 2"/>
              </a:rPr>
              <a:t>Why it is difficult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Failed observations are rare. Accuracy can look high even when no failures are 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34440"/>
            <a:ext cx="31089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Core tension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Detect more failures, but avoid creating an impractical review burden.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82112"/>
            <a:ext cx="10195560" cy="1234440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How well do interpretable and tree-based models identify failed companies,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and what trade-off do they create between detected failures and false alarms?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73168"/>
            <a:ext cx="9784080" cy="5943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500" b="0">
                <a:solidFill>
                  <a:srgbClr val="1E2226"/>
                </a:solidFill>
                <a:latin typeface="Exo 2"/>
              </a:rPr>
              <a:t>Main story: not one universal winning model, but different screening trade-offs.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Data and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3</a:t>
            </a:r>
          </a:p>
        </p:txBody>
      </p:sp>
      <p:pic>
        <p:nvPicPr>
          <p:cNvPr id="6" name="Class distribution figur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70432"/>
            <a:ext cx="672084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170432"/>
            <a:ext cx="178308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4B82"/>
                </a:solidFill>
                <a:latin typeface="Exo 2"/>
              </a:rPr>
              <a:t>78,682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company-year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170432"/>
            <a:ext cx="178308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4B82"/>
                </a:solidFill>
                <a:latin typeface="Exo 2"/>
              </a:rPr>
              <a:t>8,971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American 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331720"/>
            <a:ext cx="178308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4B82"/>
                </a:solidFill>
                <a:latin typeface="Exo 2"/>
              </a:rPr>
              <a:t>1999–2018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sample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331720"/>
            <a:ext cx="1783080" cy="932688"/>
          </a:xfrm>
          <a:prstGeom prst="roundRect">
            <a:avLst/>
          </a:prstGeom>
          <a:solidFill>
            <a:srgbClr val="FFF5CC"/>
          </a:solidFill>
          <a:ln w="15240">
            <a:solidFill>
              <a:srgbClr val="00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355C"/>
                </a:solidFill>
                <a:latin typeface="Exo 2"/>
              </a:rPr>
              <a:t>6.63%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failed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657600"/>
            <a:ext cx="3749040" cy="155448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4B82"/>
                </a:solidFill>
                <a:latin typeface="Exo 2"/>
              </a:rPr>
              <a:t>Takeaway</a:t>
            </a:r>
          </a:p>
          <a:p>
            <a:pPr/>
            <a:r>
              <a:rPr sz="1400">
                <a:solidFill>
                  <a:srgbClr val="1E2226"/>
                </a:solidFill>
                <a:latin typeface="Exo 2"/>
              </a:rPr>
              <a:t>A majority-only model can look accurate while detecting no failures.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1874519"/>
            <a:ext cx="914400" cy="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23560" y="1874519"/>
            <a:ext cx="868680" cy="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2514600"/>
            <a:ext cx="0" cy="82296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23560" y="3886200"/>
            <a:ext cx="822960" cy="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1371600"/>
            <a:ext cx="23317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Full sample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78,682 observations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8,971 companies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40" y="1371600"/>
            <a:ext cx="1691640" cy="987552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50" b="1">
                <a:solidFill>
                  <a:srgbClr val="004B82"/>
                </a:solidFill>
                <a:latin typeface="Exo 2"/>
              </a:rPr>
              <a:t>Group split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complete 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Training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80% companies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62,988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7,176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25880"/>
            <a:ext cx="2057400" cy="105156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355C"/>
                </a:solidFill>
                <a:latin typeface="Exo 2"/>
              </a:rPr>
              <a:t>Final test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20% companies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15,694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1,795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337560"/>
            <a:ext cx="1874520" cy="987552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50" b="1">
                <a:solidFill>
                  <a:srgbClr val="004B82"/>
                </a:solidFill>
                <a:latin typeface="Exo 2"/>
              </a:rPr>
              <a:t>Inner split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inside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246120"/>
            <a:ext cx="2057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Model-fitting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50,323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5,740 companies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246120"/>
            <a:ext cx="2057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Validation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12,665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1,436 companies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83480"/>
            <a:ext cx="5074920" cy="749808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Leakage control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Complete companies stay on one side of each split.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983480"/>
            <a:ext cx="5074920" cy="749808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Scope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Unseen-company generalization, not future calendar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560320" cy="192024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Majority</a:t>
            </a:r>
            <a:br/>
            <a:r>
              <a:t>Baseline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Always predicts alive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Accuracy warning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2968" y="2148840"/>
            <a:ext cx="219456" cy="0"/>
          </a:xfrm>
          <a:prstGeom prst="line">
            <a:avLst/>
          </a:prstGeom>
          <a:ln w="2032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01568" y="1188720"/>
            <a:ext cx="2560320" cy="192024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Logistic</a:t>
            </a:r>
            <a:br/>
            <a:r>
              <a:t>Regression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Interpretable benchmark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L1 / L2 variants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Balanced class weights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4456" y="2148840"/>
            <a:ext cx="219456" cy="0"/>
          </a:xfrm>
          <a:prstGeom prst="line">
            <a:avLst/>
          </a:prstGeom>
          <a:ln w="2032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63056" y="1188720"/>
            <a:ext cx="2560320" cy="19202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Tree-Based</a:t>
            </a:r>
            <a:br/>
            <a:r>
              <a:t>Models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Decision Tree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Random Forest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Gradient Boosting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95944" y="2148840"/>
            <a:ext cx="219456" cy="0"/>
          </a:xfrm>
          <a:prstGeom prst="line">
            <a:avLst/>
          </a:prstGeom>
          <a:ln w="2032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24544" y="1188720"/>
            <a:ext cx="25603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PCA</a:t>
            </a:r>
            <a:br/>
            <a:r>
              <a:t>Extension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PCA + Logistic Regression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Dimension reduction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Validation-only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67328"/>
            <a:ext cx="10378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004B82"/>
                </a:solidFill>
                <a:latin typeface="Aptos"/>
              </a:rPr>
              <a:t>The comparison moves from simple and interpretable models to more flexible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681728"/>
            <a:ext cx="10058400" cy="713232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222A32"/>
                </a:solidFill>
                <a:latin typeface="Aptos"/>
              </a:rPr>
              <a:t>Model choice depends on the screening objective.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ns2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Evaluation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41732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355C"/>
                </a:solidFill>
                <a:latin typeface="Exo 2"/>
              </a:rPr>
              <a:t>Why accuracy is not enough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A model can look accurate by predicting almost every observation as alive.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063240" cy="141732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4B82"/>
                </a:solidFill>
                <a:latin typeface="Exo 2"/>
              </a:rPr>
              <a:t>Model selection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Validation PR-AUC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= average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41732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4B82"/>
                </a:solidFill>
                <a:latin typeface="Exo 2"/>
              </a:rPr>
              <a:t>Thresholds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Lower threshold → more failures detected, but more false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Failed recall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How many actual failures are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Failed precision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How many failure alerts are correct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Failed F1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Balance between recall and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PR-AUC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Ranking quality for the failed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83480"/>
            <a:ext cx="10378440" cy="713232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Ranking metrics and default-threshold classifications answer different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ns2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Main Final-Test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2928" y="1024128"/>
            <a:ext cx="8458200" cy="658368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ctr"/>
            <a:r>
              <a:rPr sz="1800" b="1">
                <a:solidFill>
                  <a:srgbClr val="222A32"/>
                </a:solidFill>
                <a:latin typeface="Aptos"/>
              </a:rPr>
              <a:t>Baseline warning: 92.5% accuracy, but zero detected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3364992" cy="246888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l"/>
            <a:r>
              <a:rPr sz="1900" b="1">
                <a:solidFill>
                  <a:srgbClr val="222A32"/>
                </a:solidFill>
                <a:latin typeface="Aptos"/>
              </a:rPr>
              <a:t>Logistic Regression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recall: 0.884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Detects many failures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But precision is 0.095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→ many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01952"/>
            <a:ext cx="3364992" cy="2468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l"/>
            <a:r>
              <a:rPr sz="1900" b="1">
                <a:solidFill>
                  <a:srgbClr val="222A32"/>
                </a:solidFill>
                <a:latin typeface="Aptos"/>
              </a:rPr>
              <a:t>Random Forest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observed PR-AUC: 0.159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failed F1: 0.232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More selective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→ fewer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901952"/>
            <a:ext cx="3364992" cy="2468880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l"/>
            <a:r>
              <a:rPr sz="1900" b="1">
                <a:solidFill>
                  <a:srgbClr val="222A32"/>
                </a:solidFill>
                <a:latin typeface="Aptos"/>
              </a:rPr>
              <a:t>Gradient Boosting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Selected by validation PR-AUC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balanced accuracy: 0.638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Middle recall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→ compromise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864608"/>
            <a:ext cx="10104120" cy="685800"/>
          </a:xfrm>
          <a:prstGeom prst="roundRect">
            <a:avLst/>
          </a:prstGeom>
          <a:solidFill>
            <a:srgbClr val="004B82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Main message: no model is strongest on every measure.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Classification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024128"/>
            <a:ext cx="103784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222A32"/>
                </a:solidFill>
                <a:latin typeface="Aptos"/>
              </a:rPr>
              <a:t>Default rule: detecting more failures usually creates more false alarms.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78308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178308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Detected failures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1783080"/>
            <a:ext cx="169164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Missed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783080"/>
            <a:ext cx="160020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False alarms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783080"/>
            <a:ext cx="338328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78308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100" b="0">
                <a:solidFill>
                  <a:srgbClr val="1E2226"/>
                </a:solidFill>
                <a:latin typeface="Exo 2"/>
              </a:rPr>
              <a:t>Logistic</a:t>
            </a:r>
            <a:br/>
            <a:r>
              <a:rPr sz="1100" b="0">
                <a:solidFill>
                  <a:srgbClr val="1E2226"/>
                </a:solidFill>
                <a:latin typeface="Exo 2"/>
              </a:rPr>
              <a:t>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86000"/>
            <a:ext cx="178308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1,041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286000"/>
            <a:ext cx="169164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136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2286000"/>
            <a:ext cx="160020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9,906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286000"/>
            <a:ext cx="338328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0">
                <a:solidFill>
                  <a:srgbClr val="1E2226"/>
                </a:solidFill>
                <a:latin typeface="Exo 2"/>
              </a:rPr>
              <a:t>Broad screen</a:t>
            </a:r>
            <a:br/>
            <a:r>
              <a:rPr sz="1050" b="0">
                <a:solidFill>
                  <a:srgbClr val="1E2226"/>
                </a:solidFill>
                <a:latin typeface="Exo 2"/>
              </a:rPr>
              <a:t>Many false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82112"/>
            <a:ext cx="178308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100" b="0">
                <a:solidFill>
                  <a:srgbClr val="1E2226"/>
                </a:solidFill>
                <a:latin typeface="Exo 2"/>
              </a:rPr>
              <a:t>Random</a:t>
            </a:r>
            <a:br/>
            <a:r>
              <a:rPr sz="1100" b="0">
                <a:solidFill>
                  <a:srgbClr val="1E2226"/>
                </a:solidFill>
                <a:latin typeface="Exo 2"/>
              </a:rPr>
              <a:t>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182112"/>
            <a:ext cx="178308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442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3182112"/>
            <a:ext cx="169164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735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3182112"/>
            <a:ext cx="160020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2,190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182112"/>
            <a:ext cx="338328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0">
                <a:solidFill>
                  <a:srgbClr val="1E2226"/>
                </a:solidFill>
                <a:latin typeface="Exo 2"/>
              </a:rPr>
              <a:t>More selective</a:t>
            </a:r>
            <a:br/>
            <a:r>
              <a:rPr sz="1050" b="0">
                <a:solidFill>
                  <a:srgbClr val="1E2226"/>
                </a:solidFill>
                <a:latin typeface="Exo 2"/>
              </a:rPr>
              <a:t>Fewer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78224"/>
            <a:ext cx="178308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100" b="0">
                <a:solidFill>
                  <a:srgbClr val="1E2226"/>
                </a:solidFill>
                <a:latin typeface="Exo 2"/>
              </a:rPr>
              <a:t>Gradient</a:t>
            </a:r>
            <a:br/>
            <a:r>
              <a:rPr sz="1100" b="0">
                <a:solidFill>
                  <a:srgbClr val="1E2226"/>
                </a:solidFill>
                <a:latin typeface="Exo 2"/>
              </a:rPr>
              <a:t>Boosting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078224"/>
            <a:ext cx="178308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695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4078224"/>
            <a:ext cx="169164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482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078224"/>
            <a:ext cx="160020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4,563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4078224"/>
            <a:ext cx="338328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0">
                <a:solidFill>
                  <a:srgbClr val="1E2226"/>
                </a:solidFill>
                <a:latin typeface="Exo 2"/>
              </a:rPr>
              <a:t>Middle position</a:t>
            </a:r>
            <a:br/>
            <a:r>
              <a:rPr sz="1050" b="0">
                <a:solidFill>
                  <a:srgbClr val="1E2226"/>
                </a:solidFill>
                <a:latin typeface="Exo 2"/>
              </a:rPr>
              <a:t>Validation-selected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02352"/>
            <a:ext cx="4892040" cy="71323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Financial question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Which error is more costly: a missed failure or a false alarm?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5102352"/>
            <a:ext cx="5074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Important caveat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Financial costs and review capacity are not estimated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Precision–Recall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9</a:t>
            </a:r>
          </a:p>
        </p:txBody>
      </p:sp>
      <p:pic>
        <p:nvPicPr>
          <p:cNvPr id="6" name="Precision recall curves" descr="precision_recall_key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812280" cy="44531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80" y="1143000"/>
            <a:ext cx="3566160" cy="114300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Rare-event ranking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PR curves focus on the failed class, not the many alive observations.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80" y="2542032"/>
            <a:ext cx="3566160" cy="11430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Average precision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RF 0.159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GB 0.158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LR 0.153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3931920"/>
            <a:ext cx="3566160" cy="12344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Key interpretation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Ranking performance is similar, but default-threshold decisions are very different.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Model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10</a:t>
            </a:r>
          </a:p>
        </p:txBody>
      </p:sp>
      <p:pic>
        <p:nvPicPr>
          <p:cNvPr id="6" name="Logistic coefficients" descr="top_logistic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44752"/>
            <a:ext cx="635508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143000"/>
            <a:ext cx="3840480" cy="114300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Signed interpretation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Positive coefficients → higher predicted failure log-odds. Negative coefficients → lower.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542032"/>
            <a:ext cx="3840480" cy="11430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Largest negative coefficients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Current assets −1.912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Market value −1.812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931920"/>
            <a:ext cx="3840480" cy="12344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Caution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Coefficients and tree importance are predictive interpretations, not causal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PCA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11</a:t>
            </a:r>
          </a:p>
        </p:txBody>
      </p:sp>
      <p:pic>
        <p:nvPicPr>
          <p:cNvPr id="6" name="PCA explained variance" descr="pca_explaine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44752"/>
            <a:ext cx="5870448" cy="37124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29400" y="1097280"/>
            <a:ext cx="4526280" cy="987552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Variance is retained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2 components retain 83.8%; 10 components retain 99.2%.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267712"/>
            <a:ext cx="4526280" cy="987552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Prediction is different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High explained variance does not automatically mean strong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438144"/>
            <a:ext cx="452628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Validation result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PCA with 10–12 components is similar, not clearly better, than original Logistic Regression.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663440"/>
            <a:ext cx="4526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Interpretability cost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Components mix many accounting variables.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23444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What the project shows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Financial variables contain useful screening and ranking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12344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What it does not show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No causal effects, no calibrated probabilities, no production-ready decision rule.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063240" cy="123444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Main limitation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Not a chronological forecasting backtest.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54680"/>
            <a:ext cx="10287000" cy="960120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Exo 2"/>
              </a:rPr>
              <a:t>Final answer: bankruptcy-risk classification remains difficult, and model choice depends on the screening objective.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572000"/>
            <a:ext cx="1001268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800" b="1">
                <a:solidFill>
                  <a:srgbClr val="222A32"/>
                </a:solidFill>
                <a:latin typeface="Aptos"/>
              </a:rPr>
              <a:t>• Clear future failure horizon</a:t>
            </a:r>
          </a:p>
          <a:p>
            <a:pPr algn="l"/>
            <a:r>
              <a:rPr sz="1800" b="0">
                <a:solidFill>
                  <a:srgbClr val="222A32"/>
                </a:solidFill>
                <a:latin typeface="Aptos"/>
              </a:rPr>
              <a:t>• Chronological evaluation + uncertainty</a:t>
            </a:r>
          </a:p>
          <a:p>
            <a:pPr algn="l"/>
            <a:r>
              <a:rPr sz="1800" b="0">
                <a:solidFill>
                  <a:srgbClr val="222A32"/>
                </a:solidFill>
                <a:latin typeface="Aptos"/>
              </a:rPr>
              <a:t>• Cost-based threshold choice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691640"/>
            <a:ext cx="10241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3800" b="1">
                <a:solidFill>
                  <a:srgbClr val="004B82"/>
                </a:solidFill>
                <a:latin typeface="Exo 2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102412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300" b="0">
                <a:solidFill>
                  <a:srgbClr val="545B63"/>
                </a:solidFill>
                <a:latin typeface="Exo 2"/>
              </a:rPr>
              <a:t>Questions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94760"/>
            <a:ext cx="102412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800" b="0">
                <a:solidFill>
                  <a:srgbClr val="1E2226"/>
                </a:solidFill>
                <a:latin typeface="Exo 2"/>
              </a:rPr>
              <a:t>Berke Pehlivan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Model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15568"/>
            <a:ext cx="10835640" cy="59436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50" b="1">
                <a:solidFill>
                  <a:srgbClr val="004B82"/>
                </a:solidFill>
                <a:latin typeface="Exo 2"/>
              </a:rPr>
              <a:t>Compact grids were used to compare model families, not to run a large optimization exercise.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Majority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92024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always alive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Logistic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242316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L2, C=1, balanced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2608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L1 / L2 LR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92608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C=0.1, balanced 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2900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42900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depth 5, min leaf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3192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93192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300 trees, min leaf 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43484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Gradient Boosting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43484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150 trees, lr 0.05, depth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93776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PCA + LR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493776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2–18 components, validation-only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Complete Final-Test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53312"/>
            <a:ext cx="251460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Acc.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Bal. acc.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PR-AUC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353312"/>
            <a:ext cx="114300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Fail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Fail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79222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Majority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0.925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0.075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792224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304288"/>
            <a:ext cx="25146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0.360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2304288"/>
            <a:ext cx="11430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0.884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0.172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816352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Random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0.814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2816352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0.376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0.232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328416"/>
            <a:ext cx="25146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Gradient Boosting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0.688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3328416"/>
            <a:ext cx="11430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0.590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0.216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800600"/>
            <a:ext cx="105613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200" b="0">
                <a:solidFill>
                  <a:srgbClr val="545B63"/>
                </a:solidFill>
                <a:latin typeface="Exo 2"/>
              </a:rPr>
              <a:t>Main deck uses the key models only; this table shows the full saved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Validation Threshold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16</a:t>
            </a:r>
          </a:p>
        </p:txBody>
      </p:sp>
      <p:pic>
        <p:nvPicPr>
          <p:cNvPr id="5" name="Confusion summary" descr="confusion_matrix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623560" cy="2331720"/>
          </a:xfrm>
          <a:prstGeom prst="rect">
            <a:avLst/>
          </a:prstGeom>
        </p:spPr>
      </p:pic>
      <p:pic>
        <p:nvPicPr>
          <p:cNvPr id="6" name="ROC curves" descr="roc_curves_key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61872"/>
            <a:ext cx="3977640" cy="2697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4160520"/>
            <a:ext cx="5303520" cy="105156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Threshold question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How much review burden is acceptable if recall is increased?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60520"/>
            <a:ext cx="5303520" cy="105156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Why ROC is backup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ROC-AUC is useful, but PR curves show rare-failure screening burden more directly.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Tree-Based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17</a:t>
            </a:r>
          </a:p>
        </p:txBody>
      </p:sp>
      <p:pic>
        <p:nvPicPr>
          <p:cNvPr id="5" name="Tree importance" descr="top_tree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6492240" cy="33284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9480" y="1188720"/>
            <a:ext cx="3840480" cy="114300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Top features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Market value, net income, and long-term debt are important in both ensembles.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2606040"/>
            <a:ext cx="3840480" cy="114300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Interpretation limit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Importance does not show direction and is not causal.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4023360"/>
            <a:ext cx="3840480" cy="11430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Use in discussion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Helpful if asked why tree models made their predictions.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Reproducible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132588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Task workflow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pytask connects preprocessing, modelling, evaluation, figures, and paper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429000" cy="132588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Environment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Pixi fixes Python dependencies and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154680" cy="132588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Tests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26 tests check main data and modelling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4800600" cy="1417320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Exo 2"/>
              </a:rPr>
              <a:t>pixi run build</a:t>
            </a:r>
            <a:br/>
            <a:r>
              <a:rPr sz="2000" b="1">
                <a:solidFill>
                  <a:srgbClr val="FFFFFF"/>
                </a:solidFill>
                <a:latin typeface="Exo 2"/>
              </a:rPr>
              <a:t>pixi run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6324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200" b="0">
                <a:solidFill>
                  <a:srgbClr val="1E2226"/>
                </a:solidFill>
                <a:latin typeface="Exo 2"/>
              </a:rPr>
              <a:t>Generated outputs are saved under data/processed/ and outputs/. The paper-ready layer contains summaries derived from the same model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_Bonn_2017">
  <a:themeElements>
    <a:clrScheme name="Uni-Bon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9085"/>
      </a:accent1>
      <a:accent2>
        <a:srgbClr val="07529A"/>
      </a:accent2>
      <a:accent3>
        <a:srgbClr val="EAB90C"/>
      </a:accent3>
      <a:accent4>
        <a:srgbClr val="D8D8C8"/>
      </a:accent4>
      <a:accent5>
        <a:srgbClr val="053D73"/>
      </a:accent5>
      <a:accent6>
        <a:srgbClr val="F8DE83"/>
      </a:accent6>
      <a:hlink>
        <a:srgbClr val="79BAF8"/>
      </a:hlink>
      <a:folHlink>
        <a:srgbClr val="6C6C62"/>
      </a:folHlink>
    </a:clrScheme>
    <a:fontScheme name="Uni-Bonn">
      <a:majorFont>
        <a:latin typeface="Exo 2"/>
        <a:ea typeface=""/>
        <a:cs typeface="Calibri"/>
      </a:majorFont>
      <a:minorFont>
        <a:latin typeface="Calibri"/>
        <a:ea typeface=""/>
        <a:cs typeface="Calibri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400" dirty="0" err="1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16000" indent="-216000">
          <a:spcAft>
            <a:spcPts val="420"/>
          </a:spcAft>
          <a:buFont typeface="Calibri" panose="020F0502020204030204" pitchFamily="34" charset="0"/>
          <a:buChar char="−"/>
          <a:defRPr sz="1400" dirty="0" err="1" smtClean="0">
            <a:solidFill>
              <a:schemeClr val="accent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13</ns0:Words>
  <ns0:Application>Microsoft Office PowerPoint</ns0:Application>
  <ns0:PresentationFormat>Widescreen</ns0:PresentationFormat>
  <ns0:Paragraphs>7</ns0:Paragraphs>
  <ns0:Slides>13</ns0:Slides>
  <ns0:Notes>1</ns0:Notes>
  <ns0:HiddenSlides>13</ns0:HiddenSlides>
  <ns0:MMClips>0</ns0:MMClips>
  <ns0:ScaleCrop>false</ns0:ScaleCrop>
  <ns0:HeadingPairs>
    <ns1:vector size="6" baseType="variant">
      <ns1:variant>
        <ns1:lpstr>Fonts Used</ns1:lpstr>
      </ns1:variant>
      <ns1:variant>
        <ns1:i4>4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5</ns1:i4>
      </ns1:variant>
    </ns1:vector>
  </ns0:HeadingPairs>
  <ns0:TitlesOfParts>
    <ns1:vector size="10" baseType="lpstr">
      <ns1:lpstr>Arial</ns1:lpstr>
      <ns1:lpstr>Calibri</ns1:lpstr>
      <ns1:lpstr>Exo 2</ns1:lpstr>
      <ns1:lpstr>Exo 2 Semi Bold</ns1:lpstr>
      <ns1:lpstr>Uni_Bonn_2017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Ines Estevez Magnasco</dc:creator>
  <cp:lastModifiedBy>Ana Ines Estevez Magnasco</cp:lastModifiedBy>
  <cp:revision>1</cp:revision>
  <dcterms:created xsi:type="dcterms:W3CDTF">2023-09-25T07:13:58Z</dcterms:created>
  <dcterms:modified xsi:type="dcterms:W3CDTF">2023-09-25T07:14:32Z</dcterms:modified>
</cp:coreProperties>
</file>